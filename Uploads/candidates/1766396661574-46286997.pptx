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1"/>
    <p:sldMasterId id="2147483671" r:id="rId2"/>
  </p:sldMasterIdLst>
  <p:notesMasterIdLst>
    <p:notesMasterId r:id="rId23"/>
  </p:notesMasterIdLst>
  <p:handoutMasterIdLst>
    <p:handoutMasterId r:id="rId24"/>
  </p:handoutMasterIdLst>
  <p:sldIdLst>
    <p:sldId id="256" r:id="rId3"/>
    <p:sldId id="291" r:id="rId4"/>
    <p:sldId id="294" r:id="rId5"/>
    <p:sldId id="293" r:id="rId6"/>
    <p:sldId id="303" r:id="rId7"/>
    <p:sldId id="296" r:id="rId8"/>
    <p:sldId id="295" r:id="rId9"/>
    <p:sldId id="304" r:id="rId10"/>
    <p:sldId id="297" r:id="rId11"/>
    <p:sldId id="298" r:id="rId12"/>
    <p:sldId id="313" r:id="rId13"/>
    <p:sldId id="314" r:id="rId14"/>
    <p:sldId id="299" r:id="rId15"/>
    <p:sldId id="306" r:id="rId16"/>
    <p:sldId id="315" r:id="rId17"/>
    <p:sldId id="316" r:id="rId18"/>
    <p:sldId id="317" r:id="rId19"/>
    <p:sldId id="301" r:id="rId20"/>
    <p:sldId id="302" r:id="rId21"/>
    <p:sldId id="276" r:id="rId2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399"/>
    <a:srgbClr val="FF7C80"/>
    <a:srgbClr val="080808"/>
    <a:srgbClr val="E9DA4F"/>
    <a:srgbClr val="72B88E"/>
    <a:srgbClr val="EAEAEA"/>
    <a:srgbClr val="FEFEFE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2" autoAdjust="0"/>
    <p:restoredTop sz="89610" autoAdjust="0"/>
  </p:normalViewPr>
  <p:slideViewPr>
    <p:cSldViewPr>
      <p:cViewPr varScale="1">
        <p:scale>
          <a:sx n="61" d="100"/>
          <a:sy n="61" d="100"/>
        </p:scale>
        <p:origin x="138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1595B88-AF9F-1FC9-8A92-3F27A375D6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97779D-21B6-68A6-2278-20CFC1A44B3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44A3DBBB-FC74-428B-86E8-6C433CF44831}" type="datetime1">
              <a:rPr lang="en-US"/>
              <a:pPr>
                <a:defRPr/>
              </a:pPr>
              <a:t>9/11/2025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030BEB-D159-C65A-8154-ECDB186D7CE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SZABIST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E4CCD8-BEB3-BCF6-71C6-BA781C0E9DD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475CD16-CC59-454B-8E63-E7C11F6A38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4582656-495E-A6E3-DE39-E53808C4B5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7B2AB0-F71B-2737-74BF-D4AFC338028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32B2CC07-255F-4E83-8614-B531EF6BDA42}" type="datetime1">
              <a:rPr lang="en-US"/>
              <a:pPr>
                <a:defRPr/>
              </a:pPr>
              <a:t>9/11/2025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91E84D8-D914-B762-8423-F3A615881F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DF16869-B2EE-5C78-32A6-186F560B3B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29A0D5-072F-E67A-8A4A-92F196E78D3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SZABIST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1DF57-F894-1C11-802D-399432770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B40B9D4-B393-4FDF-BC1E-6B0A7836839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ACA28783-1EA4-95D5-43CA-A7F4938FDF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DB41CCE1-D0EA-46E2-3DBD-4DF1DA444AA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6388" name="Date Placeholder 3">
            <a:extLst>
              <a:ext uri="{FF2B5EF4-FFF2-40B4-BE49-F238E27FC236}">
                <a16:creationId xmlns:a16="http://schemas.microsoft.com/office/drawing/2014/main" id="{7066CC91-62A8-C92C-E07C-767B3526E2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B2B70B-08FB-48CD-8FAA-43FDFD5DB06B}" type="datetime1">
              <a:rPr lang="en-US" altLang="en-US" smtClean="0"/>
              <a:pPr/>
              <a:t>9/11/2025</a:t>
            </a:fld>
            <a:endParaRPr lang="en-US" altLang="en-US"/>
          </a:p>
        </p:txBody>
      </p:sp>
      <p:sp>
        <p:nvSpPr>
          <p:cNvPr id="16389" name="Footer Placeholder 4">
            <a:extLst>
              <a:ext uri="{FF2B5EF4-FFF2-40B4-BE49-F238E27FC236}">
                <a16:creationId xmlns:a16="http://schemas.microsoft.com/office/drawing/2014/main" id="{FFF8B00C-F5B1-8EDF-613D-082E7660266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SZABIST</a:t>
            </a:r>
          </a:p>
        </p:txBody>
      </p:sp>
      <p:sp>
        <p:nvSpPr>
          <p:cNvPr id="16390" name="Slide Number Placeholder 5">
            <a:extLst>
              <a:ext uri="{FF2B5EF4-FFF2-40B4-BE49-F238E27FC236}">
                <a16:creationId xmlns:a16="http://schemas.microsoft.com/office/drawing/2014/main" id="{989DE32B-C0C6-9118-96D5-BA4296BED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2A61C71-E419-4D4D-86DA-0122A042BA89}" type="slidenum">
              <a:rPr lang="en-US" altLang="en-US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32B2CC07-255F-4E83-8614-B531EF6BDA42}" type="datetime1">
              <a:rPr lang="en-US" smtClean="0"/>
              <a:pPr>
                <a:defRPr/>
              </a:pPr>
              <a:t>9/11/2025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SZABIST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0B9D4-B393-4FDF-BC1E-6B0A7836839A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3917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AA250E6-DF79-8FEA-1CAF-735E1B31E1E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0"/>
            <a:ext cx="9144000" cy="483235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1A17D46-A5CB-387D-E88C-C0C234602156}"/>
              </a:ext>
            </a:extLst>
          </p:cNvPr>
          <p:cNvSpPr>
            <a:spLocks noChangeArrowheads="1"/>
          </p:cNvSpPr>
          <p:nvPr/>
        </p:nvSpPr>
        <p:spPr bwMode="ltGray">
          <a:xfrm flipH="1">
            <a:off x="2411413" y="4581525"/>
            <a:ext cx="722376" cy="503238"/>
          </a:xfrm>
          <a:prstGeom prst="homePlate">
            <a:avLst>
              <a:gd name="adj" fmla="val 42902"/>
            </a:avLst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09A5CD65-B92F-4964-A642-3264E0010E7B}"/>
              </a:ext>
            </a:extLst>
          </p:cNvPr>
          <p:cNvSpPr>
            <a:spLocks noChangeArrowheads="1"/>
          </p:cNvSpPr>
          <p:nvPr/>
        </p:nvSpPr>
        <p:spPr bwMode="ltGray">
          <a:xfrm flipH="1">
            <a:off x="2700338" y="4581525"/>
            <a:ext cx="719137" cy="503238"/>
          </a:xfrm>
          <a:prstGeom prst="homePlate">
            <a:avLst>
              <a:gd name="adj" fmla="val 35725"/>
            </a:avLst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55128C59-D632-611B-B2FF-22D0C106C2F0}"/>
              </a:ext>
            </a:extLst>
          </p:cNvPr>
          <p:cNvSpPr>
            <a:spLocks noChangeArrowheads="1"/>
          </p:cNvSpPr>
          <p:nvPr/>
        </p:nvSpPr>
        <p:spPr bwMode="gray">
          <a:xfrm flipH="1">
            <a:off x="2987674" y="4581525"/>
            <a:ext cx="6156325" cy="501650"/>
          </a:xfrm>
          <a:prstGeom prst="homePlate">
            <a:avLst>
              <a:gd name="adj" fmla="val 32516"/>
            </a:avLst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294246D-7716-EA85-3043-98EE829380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163"/>
            <a:ext cx="342900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5177" name="Rectangle 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124200" y="4564063"/>
            <a:ext cx="5835650" cy="5334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400" b="0" cap="none" spc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2590800" y="3048000"/>
            <a:ext cx="6400800" cy="1447800"/>
          </a:xfrm>
        </p:spPr>
        <p:txBody>
          <a:bodyPr anchor="b">
            <a:noAutofit/>
          </a:bodyPr>
          <a:lstStyle>
            <a:lvl1pPr algn="l">
              <a:defRPr sz="5400" b="1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AB8B77C6-201E-940D-963F-5C53FD4B716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324600"/>
            <a:ext cx="2133600" cy="3968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315B5-26B7-45DD-A1BC-B5DF4610C91B}" type="datetime1">
              <a:rPr lang="en-US"/>
              <a:pPr>
                <a:defRPr/>
              </a:pPr>
              <a:t>9/11/2025</a:t>
            </a:fld>
            <a:endParaRPr lang="en-US"/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C4D078EF-E0B1-3474-C2B1-8552EBC28D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24600"/>
            <a:ext cx="2895600" cy="396875"/>
          </a:xfrm>
          <a:prstGeom prst="rect">
            <a:avLst/>
          </a:prstGeom>
        </p:spPr>
        <p:txBody>
          <a:bodyPr/>
          <a:lstStyle>
            <a:lvl1pPr algn="ctr"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FYP Proposal Presentation - BSSE (Fall 2020)</a:t>
            </a:r>
            <a:endParaRPr lang="en-US" dirty="0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AF9FAE8-E5C7-F127-22F8-4651B51F26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24600"/>
            <a:ext cx="2133600" cy="396875"/>
          </a:xfrm>
        </p:spPr>
        <p:txBody>
          <a:bodyPr/>
          <a:lstStyle>
            <a:lvl1pPr>
              <a:defRPr/>
            </a:lvl1pPr>
          </a:lstStyle>
          <a:p>
            <a:fld id="{C0A8686F-7B18-4A12-91CC-D770D47509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4696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763"/>
            <a:ext cx="8229600" cy="6302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330CE89B-A6E2-99DC-D970-E396B9D298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4B9185-EE77-4048-A101-32B52815BF78}" type="datetime1">
              <a:rPr lang="en-US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5BE48736-56E6-973C-F527-B72D05C40A5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930F51-3227-4CB1-A427-E1ACECB7E5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0298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A34606C3-C429-2894-7BBA-6E2B9858B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BF85CA-0837-4B91-A6E9-C2587BEE519D}" type="datetime1">
              <a:rPr lang="en-US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011F54EE-1654-FAAA-8616-349FC37160D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129CDC-8390-46EA-B565-84B1652D32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4162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763"/>
            <a:ext cx="8229600" cy="6302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A29B2C7D-8FCA-3AEE-5DF3-E27684BF32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ACF1FF-99FA-4F88-B471-FAA60DEFB4B7}" type="datetime1">
              <a:rPr lang="en-US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E1239A14-6A3E-2691-5111-0C3DC5AD859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4CA4B4-2B59-41A3-AAB4-90DC08F6A8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0590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0">
            <a:extLst>
              <a:ext uri="{FF2B5EF4-FFF2-40B4-BE49-F238E27FC236}">
                <a16:creationId xmlns:a16="http://schemas.microsoft.com/office/drawing/2014/main" id="{2148B5AC-0891-63AB-7E4A-26B2A2F7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5ED79F-DEE6-4F10-A2B3-1F9EC1F85712}" type="datetime1">
              <a:rPr lang="en-US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DA83D530-66F6-C084-D16D-C5C463147E5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B62C21-BDBF-427E-BA21-D53500CF7F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3165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763"/>
            <a:ext cx="8229600" cy="6302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">
            <a:extLst>
              <a:ext uri="{FF2B5EF4-FFF2-40B4-BE49-F238E27FC236}">
                <a16:creationId xmlns:a16="http://schemas.microsoft.com/office/drawing/2014/main" id="{BCEE959E-ACCF-F296-1DC6-36D0B3897A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4C0BD4-5EBE-4561-8982-E8F4EDF5DCB9}" type="datetime1">
              <a:rPr lang="en-US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F2E2DEEC-E055-43D3-599B-649CB63F3EB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60DBC9-28AE-4786-9FFB-C4C47CE136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1712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4A743EA-D748-EB18-394E-E9F7092645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A39234-C8BF-40F8-91A3-391B2BC65652}" type="datetime1">
              <a:rPr lang="en-US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B7D47E23-1648-0A84-4C36-4883032B41A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B72307-9720-4693-BC17-E0FD336062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9347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772400" cy="4889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43000"/>
            <a:ext cx="5111750" cy="49831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143000"/>
            <a:ext cx="3008313" cy="49831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84111498-AE00-01E7-44EB-31003E6FF2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296258-2D38-40AE-BE7A-4E6717E5E662}" type="datetime1">
              <a:rPr lang="en-US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6B5780E-3697-354C-3242-47237BF5523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17AFE7-D2B0-42FB-B782-C1BCA480049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5374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066799"/>
            <a:ext cx="5486400" cy="3660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0CEA1FA9-FE4C-672E-BEE7-C4B76241BC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D6C665-9499-49C6-9C6E-0BEF4A1D87AE}" type="datetime1">
              <a:rPr lang="en-US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EA8714D-1BBF-1423-8030-69E472876F9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CE00EC-0ACD-43EA-BC69-01DC8A8B959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8307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763"/>
            <a:ext cx="8229600" cy="6302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E55298D8-26BE-60A3-882D-E61179096B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D6636-2A90-4DB9-9E5F-266F7AC01821}" type="datetime1">
              <a:rPr lang="en-US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6A85FB7-677E-C013-422D-53D4CB70F8C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7B3791-7AC5-4A49-BA81-C43099CEE1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8235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933AAC7-495A-19AC-6D8C-A66453405DF9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8859838" y="0"/>
            <a:ext cx="284162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1"/>
            <a:ext cx="2057400" cy="5516562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1"/>
            <a:ext cx="6019800" cy="5516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188587C-8C49-4EEA-BE27-488687DBF7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DB16845-E94A-45A3-9004-040826E0039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75B0AFD9-191A-87F8-32A9-C1616773A4AF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7757FDFD-B3A7-4BD7-8789-2B1EA403DF8E}" type="datetime1">
              <a:rPr lang="en-US"/>
              <a:pPr>
                <a:defRPr/>
              </a:pPr>
              <a:t>9/11/2025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480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1763"/>
            <a:ext cx="8229600" cy="6302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066800"/>
            <a:ext cx="4038600" cy="5059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059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90C0B3CC-D84B-6D74-E030-F76EDD7D83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5200" y="6477000"/>
            <a:ext cx="2133600" cy="228600"/>
          </a:xfrm>
        </p:spPr>
        <p:txBody>
          <a:bodyPr/>
          <a:lstStyle>
            <a:lvl1pPr>
              <a:defRPr/>
            </a:lvl1pPr>
          </a:lstStyle>
          <a:p>
            <a:fld id="{CD02C67D-100E-4ED1-BC39-E0CBB8DA6EB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876B566-6BE1-7871-FBC7-AED7EEA877AE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6F63F979-F8B8-4A51-93CF-383BDFD7CE5A}" type="datetime1">
              <a:rPr lang="en-US"/>
              <a:pPr>
                <a:defRPr/>
              </a:pPr>
              <a:t>9/11/2025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091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4C2334-B63E-0DE0-B459-70E281A3FAB9}"/>
              </a:ext>
            </a:extLst>
          </p:cNvPr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E5B25F-7E85-E946-A2EF-A967B1430410}"/>
              </a:ext>
            </a:extLst>
          </p:cNvPr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7CCCB1-B342-159A-BC2E-38D07F059A65}"/>
              </a:ext>
            </a:extLst>
          </p:cNvPr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20264F6-1BAE-2B12-6E3B-FF72F160F3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163"/>
            <a:ext cx="342900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27">
            <a:extLst>
              <a:ext uri="{FF2B5EF4-FFF2-40B4-BE49-F238E27FC236}">
                <a16:creationId xmlns:a16="http://schemas.microsoft.com/office/drawing/2014/main" id="{0F162A90-4DDB-2E2C-9E60-C309F9B2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6AF57A3-5EE1-473A-A517-FDF7593A528F}" type="datetime1">
              <a:rPr lang="en-US"/>
              <a:pPr>
                <a:defRPr/>
              </a:pPr>
              <a:t>9/11/2025</a:t>
            </a:fld>
            <a:endParaRPr 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79AD6AE7-A69B-D672-27C6-95CDBE4A9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FYP Proposal Presentation - BSSE (Fall 2020)</a:t>
            </a:r>
            <a:endParaRPr lang="en-US" dirty="0"/>
          </a:p>
        </p:txBody>
      </p:sp>
      <p:sp>
        <p:nvSpPr>
          <p:cNvPr id="10" name="Slide Number Placeholder 28">
            <a:extLst>
              <a:ext uri="{FF2B5EF4-FFF2-40B4-BE49-F238E27FC236}">
                <a16:creationId xmlns:a16="http://schemas.microsoft.com/office/drawing/2014/main" id="{1F799263-C2A3-1103-6EC1-F5F95E789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E3984EB-C2EE-46E6-A52F-64C1146ED08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60667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A1D5014E-E954-DBA8-9A14-B71177152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533970-2AC4-46D8-8EC5-CB25F5C512E9}" type="datetime1">
              <a:rPr lang="en-US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58E52C2E-3C72-523D-457A-C360FC21A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FYP Proposal Presentation - BSSE (Fall 2020)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75480C4D-62FC-B9A4-F699-ACF3523F6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83E40D-165C-4D7C-B114-AB3341593B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44620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429621-FBE9-688C-3E97-3A3B4DFED607}"/>
              </a:ext>
            </a:extLst>
          </p:cNvPr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37F9A3-D78C-EF51-B46C-731E8FC7A1AD}"/>
              </a:ext>
            </a:extLst>
          </p:cNvPr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010F9F-1F0C-7F73-8053-3715D37FA055}"/>
              </a:ext>
            </a:extLst>
          </p:cNvPr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>
            <a:extLst>
              <a:ext uri="{FF2B5EF4-FFF2-40B4-BE49-F238E27FC236}">
                <a16:creationId xmlns:a16="http://schemas.microsoft.com/office/drawing/2014/main" id="{CC827AB7-63DC-BE71-C84D-F8B95DA6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9BA924-D8E5-4D1A-91D1-BE6E17A515B8}" type="datetime1">
              <a:rPr lang="en-US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8" name="Slide Number Placeholder 12">
            <a:extLst>
              <a:ext uri="{FF2B5EF4-FFF2-40B4-BE49-F238E27FC236}">
                <a16:creationId xmlns:a16="http://schemas.microsoft.com/office/drawing/2014/main" id="{FE3AD634-7C3B-77BD-0D24-6E9AAD4921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fld id="{FCC9019C-3E8C-4CE1-A623-00D0AFC6153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3">
            <a:extLst>
              <a:ext uri="{FF2B5EF4-FFF2-40B4-BE49-F238E27FC236}">
                <a16:creationId xmlns:a16="http://schemas.microsoft.com/office/drawing/2014/main" id="{706511CA-00C8-F4DC-0A89-394C7DDB237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FYP Proposal Presentation - BSSE (Fall 2020)</a:t>
            </a:r>
          </a:p>
        </p:txBody>
      </p:sp>
    </p:spTree>
    <p:extLst>
      <p:ext uri="{BB962C8B-B14F-4D97-AF65-F5344CB8AC3E}">
        <p14:creationId xmlns:p14="http://schemas.microsoft.com/office/powerpoint/2010/main" val="3978343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CFA8F256-5950-32B2-B36E-6389E504A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10CA8088-07AA-49F2-B0BE-C46F0CD2B908}" type="datetime1">
              <a:rPr lang="en-US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D1350B55-4FEB-4398-A87D-B1EE77FC4D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B345973-279F-4EFB-B064-AF0198943EA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20030E0C-F39C-A4D6-9F16-6F507547590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FYP Proposal Presentation - BSSE (Fall 2020)</a:t>
            </a:r>
          </a:p>
        </p:txBody>
      </p:sp>
    </p:spTree>
    <p:extLst>
      <p:ext uri="{BB962C8B-B14F-4D97-AF65-F5344CB8AC3E}">
        <p14:creationId xmlns:p14="http://schemas.microsoft.com/office/powerpoint/2010/main" val="18283590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9">
            <a:extLst>
              <a:ext uri="{FF2B5EF4-FFF2-40B4-BE49-F238E27FC236}">
                <a16:creationId xmlns:a16="http://schemas.microsoft.com/office/drawing/2014/main" id="{4CEA1E3C-E821-3D26-681F-214CDB21E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F7C3363D-A531-4E16-AF0D-011A4FF0D8C4}" type="datetime1">
              <a:rPr lang="en-US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9446A474-6A95-EB1E-6920-B7E0593603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3C48533-D86F-4AC8-B2FF-726F1092644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13">
            <a:extLst>
              <a:ext uri="{FF2B5EF4-FFF2-40B4-BE49-F238E27FC236}">
                <a16:creationId xmlns:a16="http://schemas.microsoft.com/office/drawing/2014/main" id="{A29EBA0C-DF02-D94C-A869-5D22A93B8D9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FYP Proposal Presentation - BSSE (Fall 2020)</a:t>
            </a:r>
          </a:p>
        </p:txBody>
      </p:sp>
    </p:spTree>
    <p:extLst>
      <p:ext uri="{BB962C8B-B14F-4D97-AF65-F5344CB8AC3E}">
        <p14:creationId xmlns:p14="http://schemas.microsoft.com/office/powerpoint/2010/main" val="15739066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621ECAB1-D938-86E9-67EA-9A6A4004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FA614-25E7-4A46-B85A-BF5BBB5412F9}" type="datetime1">
              <a:rPr lang="en-US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501D9005-D20B-6B7F-25BF-E49231A4F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FYP Proposal Presentation - BSSE (Fall 2020)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C6978C64-9D69-89B4-A9E6-5ED364180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3497DE-C7FD-42B9-B26D-B2D9686EDB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6963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AE072E-D50E-1ACD-49AF-0C0DA77B0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92933B-F715-4CF6-85F9-1D02C9A52EED}" type="datetime1">
              <a:rPr lang="en-US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35D52E-43EA-DC9C-2D4E-3754A48E8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FYP Proposal Presentation - BSSE (Fall 2020)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07113-03E6-45DD-2480-022BA7FA0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44D5F7-AFD4-46CC-A69E-2EE8C127D1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65311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9104C1E3-BED7-3577-B01B-85B0CE655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5BB8BC-4DA1-4507-AB9A-38A27BB7F999}" type="datetime1">
              <a:rPr lang="en-US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40B4B21-8CA5-2F89-4B12-6B0991DD8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FYP Proposal Presentation - BSSE (Fall 2020)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DD1FD152-700D-E1DF-E76B-0E41E4F3E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358632-FE93-47C4-8810-6E1577E43A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39220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EE23EF-00C7-080C-206C-A3C5AF425B25}"/>
              </a:ext>
            </a:extLst>
          </p:cNvPr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6C135E-7C28-BFBE-8371-93CBE96552DA}"/>
              </a:ext>
            </a:extLst>
          </p:cNvPr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41B453-3C3C-C2EA-B317-BFE477359166}"/>
              </a:ext>
            </a:extLst>
          </p:cNvPr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41605F-086F-96BE-2DCA-D95DA2E7ABF9}"/>
              </a:ext>
            </a:extLst>
          </p:cNvPr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>
            <a:extLst>
              <a:ext uri="{FF2B5EF4-FFF2-40B4-BE49-F238E27FC236}">
                <a16:creationId xmlns:a16="http://schemas.microsoft.com/office/drawing/2014/main" id="{45573CCC-8AAE-3548-5C48-E33AC0AD36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56C8DFF-C545-41DF-BDF9-A652E446B45C}" type="datetime1">
              <a:rPr lang="en-US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023C75A3-9EBD-C555-D999-314ED145FA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/>
          <a:lstStyle>
            <a:lvl1pPr>
              <a:defRPr sz="2800"/>
            </a:lvl1pPr>
          </a:lstStyle>
          <a:p>
            <a:fld id="{FC7F45A1-C98E-4549-90AD-72A57D8C138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3">
            <a:extLst>
              <a:ext uri="{FF2B5EF4-FFF2-40B4-BE49-F238E27FC236}">
                <a16:creationId xmlns:a16="http://schemas.microsoft.com/office/drawing/2014/main" id="{CDEAD0EC-E8F6-B91D-0D2D-7E4E43D72B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FYP Proposal Presentation - BSSE (Fall 2020)</a:t>
            </a:r>
          </a:p>
        </p:txBody>
      </p:sp>
    </p:spTree>
    <p:extLst>
      <p:ext uri="{BB962C8B-B14F-4D97-AF65-F5344CB8AC3E}">
        <p14:creationId xmlns:p14="http://schemas.microsoft.com/office/powerpoint/2010/main" val="30289679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5B48F42D-2872-4463-866E-8C282C1DD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AD5AEB-6A51-4250-82CF-22D4D46F8C47}" type="datetime1">
              <a:rPr lang="en-US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D3815CB-963C-12B8-3232-9C084793C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FYP Proposal Presentation - BSSE (Fall 2020)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4A67005A-E36E-6F74-D224-1A52DA4F7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E6C5CE-FCD0-422D-B473-E25B791087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22072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C6E109-A6E6-93AF-D9A0-57A4ADC37298}"/>
              </a:ext>
            </a:extLst>
          </p:cNvPr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63D34A-1DCB-2D96-8AE2-52DE2EB04E2E}"/>
              </a:ext>
            </a:extLst>
          </p:cNvPr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9EEE86-8B94-6931-8F9B-2692FB75AFA5}"/>
              </a:ext>
            </a:extLst>
          </p:cNvPr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318B2BD-FFF6-83BB-6F38-56C2D6661648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8859838" y="0"/>
            <a:ext cx="284162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CC0899F-5155-F753-D58B-B2B946510F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5BD958-8DDD-48C2-A738-D744104A18C7}" type="datetime1">
              <a:rPr lang="en-US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DF29CF7-0BDD-F89A-4831-DB9714190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FYP Proposal Presentation - BSSE (Fall 2020)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29B3716-6FCC-5239-5F26-51BDE16ED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fld id="{98A224A4-9B88-409D-9EC9-1F4E236601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4098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E3F71B6C-A719-8950-C293-AAF9217E56D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859838" y="0"/>
            <a:ext cx="284162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34147" name="AutoShape 3">
            <a:extLst>
              <a:ext uri="{FF2B5EF4-FFF2-40B4-BE49-F238E27FC236}">
                <a16:creationId xmlns:a16="http://schemas.microsoft.com/office/drawing/2014/main" id="{2A07D992-9F44-5496-6604-ECEAD72894E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461375" y="-6350"/>
            <a:ext cx="539750" cy="835025"/>
          </a:xfrm>
          <a:prstGeom prst="homePlate">
            <a:avLst>
              <a:gd name="adj" fmla="val 25000"/>
            </a:avLst>
          </a:prstGeom>
          <a:ln>
            <a:headEnd/>
            <a:tailEnd/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34148" name="AutoShape 4">
            <a:extLst>
              <a:ext uri="{FF2B5EF4-FFF2-40B4-BE49-F238E27FC236}">
                <a16:creationId xmlns:a16="http://schemas.microsoft.com/office/drawing/2014/main" id="{5EBE5099-821C-96E9-0971-089C207B417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6685384" y="-6350"/>
            <a:ext cx="2046288" cy="835025"/>
          </a:xfrm>
          <a:prstGeom prst="homePlate">
            <a:avLst>
              <a:gd name="adj" fmla="val 25000"/>
            </a:avLst>
          </a:prstGeom>
          <a:ln>
            <a:headEnd/>
            <a:tailEnd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33" name="Line 5">
            <a:extLst>
              <a:ext uri="{FF2B5EF4-FFF2-40B4-BE49-F238E27FC236}">
                <a16:creationId xmlns:a16="http://schemas.microsoft.com/office/drawing/2014/main" id="{DB9B9D24-ADCD-4A9D-8F07-46636A25DF9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650875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51" name="AutoShape 7">
            <a:extLst>
              <a:ext uri="{FF2B5EF4-FFF2-40B4-BE49-F238E27FC236}">
                <a16:creationId xmlns:a16="http://schemas.microsoft.com/office/drawing/2014/main" id="{75ACF835-F835-15D1-3D99-552EBF3D896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0" y="0"/>
            <a:ext cx="8382000" cy="835025"/>
          </a:xfrm>
          <a:prstGeom prst="homePlate">
            <a:avLst>
              <a:gd name="adj" fmla="val 25000"/>
            </a:avLst>
          </a:prstGeom>
          <a:solidFill>
            <a:srgbClr val="333399"/>
          </a:solidFill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eaLnBrk="1" hangingPunct="1">
              <a:defRPr/>
            </a:pPr>
            <a:endParaRPr lang="en-US">
              <a:solidFill>
                <a:srgbClr val="0070C0"/>
              </a:solidFill>
            </a:endParaRPr>
          </a:p>
        </p:txBody>
      </p:sp>
      <p:sp>
        <p:nvSpPr>
          <p:cNvPr id="1037" name="Rectangle 9">
            <a:extLst>
              <a:ext uri="{FF2B5EF4-FFF2-40B4-BE49-F238E27FC236}">
                <a16:creationId xmlns:a16="http://schemas.microsoft.com/office/drawing/2014/main" id="{6C55A47D-5EA0-5BE5-3D0D-B3C0C0E22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6800"/>
            <a:ext cx="8229600" cy="505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4154" name="Rectangle 10">
            <a:extLst>
              <a:ext uri="{FF2B5EF4-FFF2-40B4-BE49-F238E27FC236}">
                <a16:creationId xmlns:a16="http://schemas.microsoft.com/office/drawing/2014/main" id="{B47E025A-C365-6AB0-3215-C41025ABDF4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53200"/>
            <a:ext cx="213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fld id="{58AB9A2A-3A51-4EB7-8068-9094F9ABF709}" type="datetime1">
              <a:rPr lang="en-US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134156" name="Rectangle 12">
            <a:extLst>
              <a:ext uri="{FF2B5EF4-FFF2-40B4-BE49-F238E27FC236}">
                <a16:creationId xmlns:a16="http://schemas.microsoft.com/office/drawing/2014/main" id="{4688EEA5-9857-59A5-8757-E915852891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505200" y="6553200"/>
            <a:ext cx="2133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4C2E6F14-90F2-42F2-A3DD-7E4EF6F6A3B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40" name="Title Placeholder 12">
            <a:extLst>
              <a:ext uri="{FF2B5EF4-FFF2-40B4-BE49-F238E27FC236}">
                <a16:creationId xmlns:a16="http://schemas.microsoft.com/office/drawing/2014/main" id="{CCFDAF3C-6900-7618-13FD-CAE0BBDFFFB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pic>
        <p:nvPicPr>
          <p:cNvPr id="1041" name="Picture 2">
            <a:extLst>
              <a:ext uri="{FF2B5EF4-FFF2-40B4-BE49-F238E27FC236}">
                <a16:creationId xmlns:a16="http://schemas.microsoft.com/office/drawing/2014/main" id="{C432AAAE-01BB-47F3-AE0F-66F9D2B400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488" y="6488113"/>
            <a:ext cx="270510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6" r:id="rId11"/>
    <p:sldLayoutId id="2147484007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Corbe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Corbe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Corbe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Corbel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u"/>
        <a:defRPr sz="2800" b="1">
          <a:solidFill>
            <a:srgbClr val="33339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anose="05000000000000000000" pitchFamily="2" charset="2"/>
        <a:buChar char="n"/>
        <a:defRPr sz="2400">
          <a:solidFill>
            <a:schemeClr val="tx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400">
          <a:solidFill>
            <a:schemeClr val="tx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21">
            <a:extLst>
              <a:ext uri="{FF2B5EF4-FFF2-40B4-BE49-F238E27FC236}">
                <a16:creationId xmlns:a16="http://schemas.microsoft.com/office/drawing/2014/main" id="{CCBA6DFE-58B3-EF9A-C076-3BABC072BC0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12">
            <a:extLst>
              <a:ext uri="{FF2B5EF4-FFF2-40B4-BE49-F238E27FC236}">
                <a16:creationId xmlns:a16="http://schemas.microsoft.com/office/drawing/2014/main" id="{2EBFBF7B-40C7-7ADB-EA62-AD03A30155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90701F-207F-F993-27FC-B9BEAAF4A7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fld id="{ACC2D896-9236-4F59-9973-9FC400475AC7}" type="datetime1">
              <a:rPr lang="en-US"/>
              <a:pPr>
                <a:defRPr/>
              </a:pPr>
              <a:t>9/11/2025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DED8DA-AA48-54BE-6110-56C89E6865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FYP Proposal Presentation - BSSE (Fall 2020)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993305-876B-B37B-E0EB-FE0BC0FD6615}"/>
              </a:ext>
            </a:extLst>
          </p:cNvPr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762001-B7B4-A39B-52B8-BE41079CFBED}"/>
              </a:ext>
            </a:extLst>
          </p:cNvPr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49D7F4-D81A-392E-87E2-76AEC8D1CA57}"/>
              </a:ext>
            </a:extLst>
          </p:cNvPr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6C849BA-3BC5-CA65-8B39-3B537AD56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eaLnBrk="1" hangingPunct="1">
              <a:defRPr sz="1400" b="1">
                <a:solidFill>
                  <a:srgbClr val="FFFFFF"/>
                </a:solidFill>
              </a:defRPr>
            </a:lvl1pPr>
          </a:lstStyle>
          <a:p>
            <a:fld id="{1901EE04-DEE3-4C5B-B9F8-77EE28BB21A0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2058" name="Picture 2">
            <a:extLst>
              <a:ext uri="{FF2B5EF4-FFF2-40B4-BE49-F238E27FC236}">
                <a16:creationId xmlns:a16="http://schemas.microsoft.com/office/drawing/2014/main" id="{679087F1-037D-68DA-A2D2-80DFAFBD59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488" y="6488113"/>
            <a:ext cx="270510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8" r:id="rId1"/>
    <p:sldLayoutId id="2147484001" r:id="rId2"/>
    <p:sldLayoutId id="2147484009" r:id="rId3"/>
    <p:sldLayoutId id="2147484010" r:id="rId4"/>
    <p:sldLayoutId id="2147484011" r:id="rId5"/>
    <p:sldLayoutId id="2147484002" r:id="rId6"/>
    <p:sldLayoutId id="2147484012" r:id="rId7"/>
    <p:sldLayoutId id="2147484003" r:id="rId8"/>
    <p:sldLayoutId id="2147484013" r:id="rId9"/>
    <p:sldLayoutId id="2147484004" r:id="rId10"/>
    <p:sldLayoutId id="214748401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anose="05020102010507070707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anose="05000000000000000000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5">
            <a:extLst>
              <a:ext uri="{FF2B5EF4-FFF2-40B4-BE49-F238E27FC236}">
                <a16:creationId xmlns:a16="http://schemas.microsoft.com/office/drawing/2014/main" id="{F76047B0-1AF0-036A-DFB6-F27105830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/>
          <a:lstStyle/>
          <a:p>
            <a:pPr algn="ctr" eaLnBrk="1" hangingPunct="1"/>
            <a:r>
              <a:rPr lang="en-US" altLang="en-US" sz="2000">
                <a:latin typeface="Calibri" panose="020F0502020204030204" pitchFamily="34" charset="0"/>
              </a:rPr>
              <a:t>Department of Computer Science, SZABIST Islamabad</a:t>
            </a:r>
          </a:p>
        </p:txBody>
      </p:sp>
      <p:sp>
        <p:nvSpPr>
          <p:cNvPr id="15363" name="TextBox 1">
            <a:extLst>
              <a:ext uri="{FF2B5EF4-FFF2-40B4-BE49-F238E27FC236}">
                <a16:creationId xmlns:a16="http://schemas.microsoft.com/office/drawing/2014/main" id="{B939B33E-A9A2-D43B-5316-96E05AE09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213" y="3124200"/>
            <a:ext cx="3993401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dirty="0"/>
              <a:t>Muhammad Abdullah (2280214)</a:t>
            </a:r>
          </a:p>
          <a:p>
            <a:pPr eaLnBrk="1" hangingPunct="1"/>
            <a:r>
              <a:rPr lang="en-US" altLang="en-US" dirty="0"/>
              <a:t>Atta </a:t>
            </a:r>
            <a:r>
              <a:rPr lang="en-US" altLang="en-US" dirty="0" err="1"/>
              <a:t>ur</a:t>
            </a:r>
            <a:r>
              <a:rPr lang="en-US" altLang="en-US" dirty="0"/>
              <a:t> </a:t>
            </a:r>
            <a:r>
              <a:rPr lang="en-US" altLang="en-US" dirty="0" err="1"/>
              <a:t>Rehman</a:t>
            </a:r>
            <a:r>
              <a:rPr lang="en-US" altLang="en-US" dirty="0"/>
              <a:t> (2280138)</a:t>
            </a:r>
          </a:p>
          <a:p>
            <a:pPr eaLnBrk="1" hangingPunct="1"/>
            <a:r>
              <a:rPr lang="en-US" altLang="en-US" dirty="0"/>
              <a:t>Muhammad </a:t>
            </a:r>
            <a:r>
              <a:rPr lang="en-US" altLang="en-US" dirty="0" err="1"/>
              <a:t>Humam</a:t>
            </a:r>
            <a:r>
              <a:rPr lang="en-US" altLang="en-US" dirty="0"/>
              <a:t> Khan (2180125)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b="1" dirty="0"/>
              <a:t>Supervisor: </a:t>
            </a:r>
            <a:r>
              <a:rPr lang="en-US" altLang="en-US" dirty="0"/>
              <a:t>Ms. </a:t>
            </a:r>
            <a:r>
              <a:rPr lang="en-US" altLang="en-US" dirty="0" err="1"/>
              <a:t>Tehreem</a:t>
            </a:r>
            <a:r>
              <a:rPr lang="en-US" altLang="en-US" dirty="0"/>
              <a:t> </a:t>
            </a:r>
            <a:r>
              <a:rPr lang="en-US" altLang="en-US" dirty="0" err="1"/>
              <a:t>Saboor</a:t>
            </a:r>
            <a:endParaRPr lang="en-US" altLang="en-US" b="1" dirty="0"/>
          </a:p>
        </p:txBody>
      </p:sp>
      <p:sp>
        <p:nvSpPr>
          <p:cNvPr id="15364" name="TextBox 3">
            <a:extLst>
              <a:ext uri="{FF2B5EF4-FFF2-40B4-BE49-F238E27FC236}">
                <a16:creationId xmlns:a16="http://schemas.microsoft.com/office/drawing/2014/main" id="{8D45E587-5C05-73BA-233E-5B3887C69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363" y="1600200"/>
            <a:ext cx="5638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400" b="1" dirty="0" err="1" smtClean="0"/>
              <a:t>AnimaticVision</a:t>
            </a:r>
            <a:r>
              <a:rPr lang="en-US" altLang="en-US" sz="2400" b="1" dirty="0"/>
              <a:t>: AI Powered Story to Animation</a:t>
            </a:r>
          </a:p>
        </p:txBody>
      </p:sp>
      <p:sp>
        <p:nvSpPr>
          <p:cNvPr id="15365" name="TextBox 5">
            <a:extLst>
              <a:ext uri="{FF2B5EF4-FFF2-40B4-BE49-F238E27FC236}">
                <a16:creationId xmlns:a16="http://schemas.microsoft.com/office/drawing/2014/main" id="{6B76F302-ABB1-51C5-562D-FA7F8AEE9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208713"/>
            <a:ext cx="1966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BSSE (Fall 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9433F97-C638-2BBA-A921-AEEC87BEA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Structure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8A86B9D-B720-76B7-CB0E-2967918DC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258654"/>
              </p:ext>
            </p:extLst>
          </p:nvPr>
        </p:nvGraphicFramePr>
        <p:xfrm>
          <a:off x="1371600" y="1828800"/>
          <a:ext cx="6629400" cy="256931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S.No</a:t>
                      </a:r>
                    </a:p>
                  </a:txBody>
                  <a:tcPr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Member</a:t>
                      </a:r>
                    </a:p>
                  </a:txBody>
                  <a:tcPr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Role</a:t>
                      </a:r>
                    </a:p>
                  </a:txBody>
                  <a:tcPr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49" marB="45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ATTA UR REHMAN </a:t>
                      </a:r>
                    </a:p>
                  </a:txBody>
                  <a:tcPr marT="45749" marB="45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</a:t>
                      </a:r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Manager</a:t>
                      </a:r>
                    </a:p>
                    <a:p>
                      <a:pPr marL="45720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MERN Developer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49" marB="45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49" marB="45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Muhammad Abdullah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49" marB="45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r>
                        <a:rPr kumimoji="0"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QA Engineer</a:t>
                      </a:r>
                    </a:p>
                    <a:p>
                      <a:pPr marL="457200" lvl="1" indent="0" algn="l">
                        <a:buFont typeface="Arial" panose="020B0604020202020204" pitchFamily="34" charset="0"/>
                        <a:buNone/>
                      </a:pPr>
                      <a:r>
                        <a:rPr kumimoji="0" lang="en-US" sz="1800" kern="12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Frontend Developer</a:t>
                      </a:r>
                      <a:endParaRPr lang="en-US" sz="18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49" marB="45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49" marB="45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Muhammad </a:t>
                      </a:r>
                      <a:r>
                        <a:rPr lang="en-US" sz="18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Humam</a:t>
                      </a:r>
                      <a:r>
                        <a:rPr lang="en-US" sz="18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Khan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45749" marB="45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1" indent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800" kern="100" dirty="0" smtClea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Research</a:t>
                      </a:r>
                      <a:br>
                        <a:rPr lang="en-US" sz="1800" kern="100" dirty="0" smtClea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r>
                        <a:rPr lang="en-US" sz="1800" kern="100" baseline="0" dirty="0" smtClea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kern="100" dirty="0" smtClea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AI/LLM </a:t>
                      </a:r>
                      <a:r>
                        <a:rPr lang="en-US" sz="1800" kern="100" dirty="0" smtClean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Engineer</a:t>
                      </a:r>
                      <a:endParaRPr lang="en-US" sz="18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63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6916582"/>
                  </a:ext>
                </a:extLst>
              </a:tr>
            </a:tbl>
          </a:graphicData>
        </a:graphic>
      </p:graphicFrame>
      <p:sp>
        <p:nvSpPr>
          <p:cNvPr id="17433" name="Footer Placeholder 2">
            <a:extLst>
              <a:ext uri="{FF2B5EF4-FFF2-40B4-BE49-F238E27FC236}">
                <a16:creationId xmlns:a16="http://schemas.microsoft.com/office/drawing/2014/main" id="{471059FA-AAB7-FE6A-9E49-937AE6CFA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FYP Proposal Presentation - BSSE (Fall 2025)</a:t>
            </a:r>
          </a:p>
        </p:txBody>
      </p:sp>
      <p:sp>
        <p:nvSpPr>
          <p:cNvPr id="17434" name="Slide Number Placeholder 3">
            <a:extLst>
              <a:ext uri="{FF2B5EF4-FFF2-40B4-BE49-F238E27FC236}">
                <a16:creationId xmlns:a16="http://schemas.microsoft.com/office/drawing/2014/main" id="{6564A4CA-144C-FD96-95CF-72BD1647D4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fld id="{9669C6AD-A032-4B0C-BF25-DCBDF63E0741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2</a:t>
            </a:fld>
            <a:endParaRPr lang="en-US" altLang="en-US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D994611F-0370-91A6-CF16-A5DAE0473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Description</a:t>
            </a:r>
          </a:p>
        </p:txBody>
      </p:sp>
      <p:sp>
        <p:nvSpPr>
          <p:cNvPr id="18435" name="Footer Placeholder 2">
            <a:extLst>
              <a:ext uri="{FF2B5EF4-FFF2-40B4-BE49-F238E27FC236}">
                <a16:creationId xmlns:a16="http://schemas.microsoft.com/office/drawing/2014/main" id="{5E6BF704-6A55-B882-738E-B5AF832AA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FYP Proposal Presentation - BSSE (Fall 2025)</a:t>
            </a: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F1401E65-165E-34CD-61B5-8FDD6C1C0A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fld id="{CBA39FD9-FC44-4CAC-8FE2-C5D734EC7514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3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sp>
        <p:nvSpPr>
          <p:cNvPr id="18437" name="TextBox 5">
            <a:extLst>
              <a:ext uri="{FF2B5EF4-FFF2-40B4-BE49-F238E27FC236}">
                <a16:creationId xmlns:a16="http://schemas.microsoft.com/office/drawing/2014/main" id="{4D098FE2-4814-607D-8B87-0DFA85259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1752600"/>
            <a:ext cx="86106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sz="2400" b="1" dirty="0" smtClean="0"/>
              <a:t>Animatic Vision</a:t>
            </a:r>
            <a:r>
              <a:rPr lang="en-US" altLang="en-US" sz="2400" b="1" dirty="0"/>
              <a:t>: </a:t>
            </a:r>
            <a:r>
              <a:rPr lang="en-US" altLang="en-US" sz="2400" dirty="0" smtClean="0"/>
              <a:t>is AI-powered </a:t>
            </a:r>
            <a:r>
              <a:rPr lang="en-US" altLang="en-US" sz="2400" dirty="0"/>
              <a:t>platform that converts written stories into animated videos.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sz="2400" dirty="0"/>
              <a:t>Uses LLMs + </a:t>
            </a:r>
            <a:r>
              <a:rPr lang="en-US" altLang="en-US" sz="2400" dirty="0" err="1"/>
              <a:t>LangGraph</a:t>
            </a:r>
            <a:r>
              <a:rPr lang="en-US" altLang="en-US" sz="2400" dirty="0"/>
              <a:t> for story analysis and </a:t>
            </a:r>
            <a:r>
              <a:rPr lang="en-US" altLang="en-US" sz="2400" dirty="0" smtClean="0"/>
              <a:t>scenes </a:t>
            </a:r>
            <a:r>
              <a:rPr lang="en-US" altLang="en-US" sz="2400" dirty="0"/>
              <a:t>breakdown.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sz="2400" dirty="0"/>
              <a:t>Generates avatars with lip-sync, backgrounds, and dynamic scenes.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sz="2400" dirty="0"/>
              <a:t>Provides an end-to-end pipeline: </a:t>
            </a:r>
            <a:endParaRPr lang="en-US" altLang="en-US" sz="2400" dirty="0" smtClean="0"/>
          </a:p>
          <a:p>
            <a:pPr marL="0" indent="0" algn="just"/>
            <a:r>
              <a:rPr lang="en-US" altLang="en-US" sz="2400" dirty="0"/>
              <a:t>	</a:t>
            </a:r>
            <a:r>
              <a:rPr lang="en-US" altLang="en-US" sz="2400" dirty="0" smtClean="0"/>
              <a:t>	</a:t>
            </a:r>
            <a:r>
              <a:rPr lang="en-US" altLang="en-US" sz="2400" b="1" dirty="0" smtClean="0"/>
              <a:t>Text </a:t>
            </a:r>
            <a:r>
              <a:rPr lang="en-US" altLang="en-US" sz="2400" b="1" dirty="0"/>
              <a:t>→ Avatars → Scenes → Video.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sz="2400" dirty="0"/>
              <a:t>Designed for filmmakers, educators, marketers, and storytellers.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sz="2400" dirty="0"/>
              <a:t>Aims to make animation faster, cheaper, and accessible to non-experts.</a:t>
            </a:r>
            <a:endParaRPr lang="en-US" altLang="en-US" sz="2400" dirty="0">
              <a:solidFill>
                <a:srgbClr val="22222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ABE208C4-5779-5FA8-D2D8-44BEF1F49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/ Literature Review</a:t>
            </a:r>
          </a:p>
        </p:txBody>
      </p:sp>
      <p:sp>
        <p:nvSpPr>
          <p:cNvPr id="19459" name="Content Placeholder 1">
            <a:extLst>
              <a:ext uri="{FF2B5EF4-FFF2-40B4-BE49-F238E27FC236}">
                <a16:creationId xmlns:a16="http://schemas.microsoft.com/office/drawing/2014/main" id="{3096BAFA-6736-9BFA-293F-A8A20D60D32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68580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Existing Tools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Wav2Lip-HD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✔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Accurate lip-syncing + video enhancement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❌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GPU intensive, works only on provided clips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MuseTalk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✔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Real-time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multilingual lip-sync (30+ FPS)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❌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Low resolution, single-face videos only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FaceFusion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✔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Realistic face swapping with expressions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❌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Struggles with extreme poses, raises ethical issues</a:t>
            </a:r>
          </a:p>
        </p:txBody>
      </p:sp>
      <p:sp>
        <p:nvSpPr>
          <p:cNvPr id="19460" name="Footer Placeholder 1">
            <a:extLst>
              <a:ext uri="{FF2B5EF4-FFF2-40B4-BE49-F238E27FC236}">
                <a16:creationId xmlns:a16="http://schemas.microsoft.com/office/drawing/2014/main" id="{174A9434-70EC-6F6D-3288-102F3DE1F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FYP Proposal Presentation - BSSE (Fall 2025)</a:t>
            </a:r>
          </a:p>
        </p:txBody>
      </p:sp>
      <p:sp>
        <p:nvSpPr>
          <p:cNvPr id="19461" name="Slide Number Placeholder 2">
            <a:extLst>
              <a:ext uri="{FF2B5EF4-FFF2-40B4-BE49-F238E27FC236}">
                <a16:creationId xmlns:a16="http://schemas.microsoft.com/office/drawing/2014/main" id="{3B9F8167-0A27-673E-CC0D-7AECC606C9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fld id="{7C318D56-6051-48B8-BE7F-9255F6FCC163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4</a:t>
            </a:fld>
            <a:endParaRPr lang="en-US" altLang="en-US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442957AE-905E-527A-DCDF-9A88737C9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385175" cy="990600"/>
          </a:xfrm>
        </p:spPr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/ Literature Review</a:t>
            </a:r>
            <a:endParaRPr lang="en-US" altLang="en-US" dirty="0"/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648C6E78-0FF9-79CA-A611-CE8B4147695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775" y="1610710"/>
            <a:ext cx="8153400" cy="44958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Gap Identified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Current tools handle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isolated tasks only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(lip-sync, face swap, enhancement).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complete story-to-animation pipeline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exists.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Limited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scene generation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&amp; creative flexibility</a:t>
            </a:r>
          </a:p>
          <a:p>
            <a:pPr lvl="0" algn="just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Hard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non-experts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use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Our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project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fills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this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offering an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integrated platform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Text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→ Avatars → Scenes → Animated Video.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en-US" dirty="0"/>
          </a:p>
        </p:txBody>
      </p:sp>
      <p:sp>
        <p:nvSpPr>
          <p:cNvPr id="20484" name="Footer Placeholder 3">
            <a:extLst>
              <a:ext uri="{FF2B5EF4-FFF2-40B4-BE49-F238E27FC236}">
                <a16:creationId xmlns:a16="http://schemas.microsoft.com/office/drawing/2014/main" id="{3C14FAE5-EAFC-D1BA-DFD5-4E5DA6931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FYP Proposal Presentation - BSSE (Fall 2025)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7730E7-DC0B-8D0F-C42E-8396D5D5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fld id="{8623B734-3991-4421-B93F-DA165CBCE970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5</a:t>
            </a:fld>
            <a:endParaRPr lang="en-US" altLang="en-US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B7079586-0756-CCFE-E66B-D68507050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21507" name="Content Placeholder 1">
            <a:extLst>
              <a:ext uri="{FF2B5EF4-FFF2-40B4-BE49-F238E27FC236}">
                <a16:creationId xmlns:a16="http://schemas.microsoft.com/office/drawing/2014/main" id="{837C8FDF-C8B3-3BE3-0DCC-E0FAF8567D5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Traditional animation is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time-consuming, costly, and requires expert skills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Current AI-based solutions only handle isolated tasks like lip-syncing or face swapping, but they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lack integration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for a complete story-to-animation pipeline. As a result, creators, educators, and marketers face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barriers in producing engaging animated content quickly and affordably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There is a clear need for 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unified AI-powered platform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that transforms written stories directly into fully animated videos with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avatars, scenes, and lip-syncing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 one streamlined workflow.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8" name="Footer Placeholder 1">
            <a:extLst>
              <a:ext uri="{FF2B5EF4-FFF2-40B4-BE49-F238E27FC236}">
                <a16:creationId xmlns:a16="http://schemas.microsoft.com/office/drawing/2014/main" id="{F2316384-4BF3-43F7-D8F1-328B79F46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FYP Proposal Presentation - BSSE (Fall 2025)</a:t>
            </a:r>
          </a:p>
        </p:txBody>
      </p:sp>
      <p:sp>
        <p:nvSpPr>
          <p:cNvPr id="21509" name="Slide Number Placeholder 2">
            <a:extLst>
              <a:ext uri="{FF2B5EF4-FFF2-40B4-BE49-F238E27FC236}">
                <a16:creationId xmlns:a16="http://schemas.microsoft.com/office/drawing/2014/main" id="{81E8253A-56A1-7265-A0CB-76470E3699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fld id="{FCC7D085-B0F7-4E9F-9E13-5233703C7F50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6</a:t>
            </a:fld>
            <a:endParaRPr lang="en-US" altLang="en-US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2633F7B7-88D0-15AC-5236-40CBA301D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Scope and Objectives</a:t>
            </a:r>
          </a:p>
        </p:txBody>
      </p:sp>
      <p:sp>
        <p:nvSpPr>
          <p:cNvPr id="22531" name="Content Placeholder 1">
            <a:extLst>
              <a:ext uri="{FF2B5EF4-FFF2-40B4-BE49-F238E27FC236}">
                <a16:creationId xmlns:a16="http://schemas.microsoft.com/office/drawing/2014/main" id="{DA7E715B-681A-F78C-E636-4828023D6FE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Scope: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Development of an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AI-powered story-to-animation platform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Covers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text understanding, avatar creation, lip-sync, scene generation, and video synthesis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Provides 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web-based interface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for easy access and export of animations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Target users: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filmmakers, educators, marketers, and storytellers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32" name="Footer Placeholder 1">
            <a:extLst>
              <a:ext uri="{FF2B5EF4-FFF2-40B4-BE49-F238E27FC236}">
                <a16:creationId xmlns:a16="http://schemas.microsoft.com/office/drawing/2014/main" id="{A733B9EA-A422-93E0-AD16-8048C85B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FYP Proposal Presentation - BSSE (Fall 2025)</a:t>
            </a:r>
          </a:p>
        </p:txBody>
      </p:sp>
      <p:sp>
        <p:nvSpPr>
          <p:cNvPr id="22533" name="Slide Number Placeholder 2">
            <a:extLst>
              <a:ext uri="{FF2B5EF4-FFF2-40B4-BE49-F238E27FC236}">
                <a16:creationId xmlns:a16="http://schemas.microsoft.com/office/drawing/2014/main" id="{1DAE57E7-E813-50E7-B4CC-1365FE8202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fld id="{6010BE31-B05E-4D6C-B449-A55B2D34A38D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7</a:t>
            </a:fld>
            <a:endParaRPr lang="en-US" altLang="en-US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29FBDEB9-0CAF-398C-B6A4-7EABB4510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Scope and Objectives</a:t>
            </a:r>
            <a:endParaRPr lang="en-US" altLang="en-US" dirty="0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53F971D4-934F-7EE9-531D-9F4E1CE334D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Integrate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LLMs +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LangGraph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process and structure story scripts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Implement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lip-syncing avatars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for realistic speech animation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Build 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seamless pipeline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text → image → video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Design 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user-friendly interface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(no technical expertise required)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Ensure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scalability, customization, and creative freedom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6" name="Footer Placeholder 3">
            <a:extLst>
              <a:ext uri="{FF2B5EF4-FFF2-40B4-BE49-F238E27FC236}">
                <a16:creationId xmlns:a16="http://schemas.microsoft.com/office/drawing/2014/main" id="{9BA38901-4033-9F15-83D0-16D59B68A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FYP Proposal Presentation - BSSE (Fall 2025)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13B5FC-FAB3-1A70-A87C-7A7FD9B5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fld id="{08DE5755-6C09-4BF3-82D4-595D52C9E9EA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8</a:t>
            </a:fld>
            <a:endParaRPr lang="en-US" altLang="en-US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4B6CA3D9-E111-513F-1A30-EE1B4BAB1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1809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Targeted Market / Audience</a:t>
            </a:r>
          </a:p>
        </p:txBody>
      </p:sp>
      <p:sp>
        <p:nvSpPr>
          <p:cNvPr id="24579" name="Content Placeholder 1">
            <a:extLst>
              <a:ext uri="{FF2B5EF4-FFF2-40B4-BE49-F238E27FC236}">
                <a16:creationId xmlns:a16="http://schemas.microsoft.com/office/drawing/2014/main" id="{3AE98B9A-E96A-D35B-6B7B-1405AA63736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Filmmakers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&amp; Animators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Rapid visualization of scripts &amp; storyboards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Educators &amp; Trainers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engaging lessons &amp; interactive content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Marketing &amp; Advertising Agencies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Personalized promotional videos at scale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Content Creators &amp; Storytellers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Quick prototyping of narrative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ideas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80" name="Footer Placeholder 1">
            <a:extLst>
              <a:ext uri="{FF2B5EF4-FFF2-40B4-BE49-F238E27FC236}">
                <a16:creationId xmlns:a16="http://schemas.microsoft.com/office/drawing/2014/main" id="{C0FA15BF-2C2C-6B7F-17A0-BFDCA6F4A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FYP Proposal Presentation - BSSE (Fall 2025)</a:t>
            </a:r>
          </a:p>
        </p:txBody>
      </p:sp>
      <p:sp>
        <p:nvSpPr>
          <p:cNvPr id="24581" name="Slide Number Placeholder 2">
            <a:extLst>
              <a:ext uri="{FF2B5EF4-FFF2-40B4-BE49-F238E27FC236}">
                <a16:creationId xmlns:a16="http://schemas.microsoft.com/office/drawing/2014/main" id="{4D3A31B8-D36E-2EF8-70BD-7D67B1AE6A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fld id="{06518B5F-84C5-4CBF-8063-EC89F6B46072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9</a:t>
            </a:fld>
            <a:endParaRPr lang="en-US" altLang="en-US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A4EC4DBC-0AAF-55F7-CE7A-5F001E61D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Methodology</a:t>
            </a:r>
          </a:p>
        </p:txBody>
      </p:sp>
      <p:sp>
        <p:nvSpPr>
          <p:cNvPr id="26627" name="Content Placeholder 1">
            <a:extLst>
              <a:ext uri="{FF2B5EF4-FFF2-40B4-BE49-F238E27FC236}">
                <a16:creationId xmlns:a16="http://schemas.microsoft.com/office/drawing/2014/main" id="{89231B86-752F-0D17-2EC3-516E37C366F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1. Research Phase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Review existing AI animation tools and pipelines.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Study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LLMs,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LangGraph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, lip-sync models, and video synthesis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Collect user needs from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filmmakers, creators,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and marketers.</a:t>
            </a:r>
          </a:p>
          <a:p>
            <a:pPr marL="0" indent="0" algn="just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2. Design Phase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Define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system architecture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(modules for text, avatars, scenes, video).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workflow design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from text input → final animation.</a:t>
            </a:r>
          </a:p>
          <a:p>
            <a:pPr marL="0" indent="0" algn="just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8" name="Footer Placeholder 1">
            <a:extLst>
              <a:ext uri="{FF2B5EF4-FFF2-40B4-BE49-F238E27FC236}">
                <a16:creationId xmlns:a16="http://schemas.microsoft.com/office/drawing/2014/main" id="{448F72D0-29F9-7980-E830-1CDE6F468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FYP Proposal Presentation - BSSE (Fall 2025)</a:t>
            </a:r>
          </a:p>
        </p:txBody>
      </p:sp>
      <p:sp>
        <p:nvSpPr>
          <p:cNvPr id="26629" name="Slide Number Placeholder 2">
            <a:extLst>
              <a:ext uri="{FF2B5EF4-FFF2-40B4-BE49-F238E27FC236}">
                <a16:creationId xmlns:a16="http://schemas.microsoft.com/office/drawing/2014/main" id="{86796E9E-641B-4609-B66B-2988508071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fld id="{628A45DC-E60C-4171-8930-17037F299262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10</a:t>
            </a:fld>
            <a:endParaRPr lang="en-US" altLang="en-US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A4EC4DBC-0AAF-55F7-CE7A-5F001E61D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Methodology</a:t>
            </a:r>
          </a:p>
        </p:txBody>
      </p:sp>
      <p:sp>
        <p:nvSpPr>
          <p:cNvPr id="26627" name="Content Placeholder 1">
            <a:extLst>
              <a:ext uri="{FF2B5EF4-FFF2-40B4-BE49-F238E27FC236}">
                <a16:creationId xmlns:a16="http://schemas.microsoft.com/office/drawing/2014/main" id="{89231B86-752F-0D17-2EC3-516E37C366F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 UI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mockups and prototypes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Select suitable AI models for each module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Development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Phase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Backend: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APIs for text analysis, image generation, and video synthesis.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Frontend: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Interactive web interface for input and customization.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Integration: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Connect LLMs, lip-sync, avatars, and scene generation into one pipeline.</a:t>
            </a:r>
          </a:p>
          <a:p>
            <a:pPr marL="0" indent="0" algn="just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8" name="Footer Placeholder 1">
            <a:extLst>
              <a:ext uri="{FF2B5EF4-FFF2-40B4-BE49-F238E27FC236}">
                <a16:creationId xmlns:a16="http://schemas.microsoft.com/office/drawing/2014/main" id="{448F72D0-29F9-7980-E830-1CDE6F468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FYP Proposal Presentation - BSSE (Fall 2025)</a:t>
            </a:r>
          </a:p>
        </p:txBody>
      </p:sp>
      <p:sp>
        <p:nvSpPr>
          <p:cNvPr id="26629" name="Slide Number Placeholder 2">
            <a:extLst>
              <a:ext uri="{FF2B5EF4-FFF2-40B4-BE49-F238E27FC236}">
                <a16:creationId xmlns:a16="http://schemas.microsoft.com/office/drawing/2014/main" id="{86796E9E-641B-4609-B66B-2988508071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fld id="{628A45DC-E60C-4171-8930-17037F299262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11</a:t>
            </a:fld>
            <a:endParaRPr lang="en-US" alt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063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A4EC4DBC-0AAF-55F7-CE7A-5F001E61D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Development Methodology</a:t>
            </a:r>
          </a:p>
        </p:txBody>
      </p:sp>
      <p:sp>
        <p:nvSpPr>
          <p:cNvPr id="26627" name="Content Placeholder 1">
            <a:extLst>
              <a:ext uri="{FF2B5EF4-FFF2-40B4-BE49-F238E27FC236}">
                <a16:creationId xmlns:a16="http://schemas.microsoft.com/office/drawing/2014/main" id="{89231B86-752F-0D17-2EC3-516E37C366F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. Testing &amp; Optimization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Test for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accuracy, performance, and user experience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Optimize for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GPU efficiency, scalability, and speed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Fix bugs and improve system stability.</a:t>
            </a:r>
          </a:p>
        </p:txBody>
      </p:sp>
      <p:sp>
        <p:nvSpPr>
          <p:cNvPr id="26628" name="Footer Placeholder 1">
            <a:extLst>
              <a:ext uri="{FF2B5EF4-FFF2-40B4-BE49-F238E27FC236}">
                <a16:creationId xmlns:a16="http://schemas.microsoft.com/office/drawing/2014/main" id="{448F72D0-29F9-7980-E830-1CDE6F468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FYP Proposal Presentation - BSSE (Fall 2025)</a:t>
            </a:r>
          </a:p>
        </p:txBody>
      </p:sp>
      <p:sp>
        <p:nvSpPr>
          <p:cNvPr id="26629" name="Slide Number Placeholder 2">
            <a:extLst>
              <a:ext uri="{FF2B5EF4-FFF2-40B4-BE49-F238E27FC236}">
                <a16:creationId xmlns:a16="http://schemas.microsoft.com/office/drawing/2014/main" id="{86796E9E-641B-4609-B66B-2988508071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fld id="{628A45DC-E60C-4171-8930-17037F299262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12</a:t>
            </a:fld>
            <a:endParaRPr lang="en-US" altLang="en-US" sz="1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61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FCC3AE80-653B-F9C4-A7CF-BF40058C8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And Techniques</a:t>
            </a:r>
          </a:p>
        </p:txBody>
      </p:sp>
      <p:sp>
        <p:nvSpPr>
          <p:cNvPr id="27651" name="Content Placeholder 1">
            <a:extLst>
              <a:ext uri="{FF2B5EF4-FFF2-40B4-BE49-F238E27FC236}">
                <a16:creationId xmlns:a16="http://schemas.microsoft.com/office/drawing/2014/main" id="{369A099B-703A-7E73-B358-2391FFFA3C6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1000" y="1516063"/>
            <a:ext cx="8385175" cy="4495800"/>
          </a:xfrm>
        </p:spPr>
        <p:txBody>
          <a:bodyPr/>
          <a:lstStyle/>
          <a:p>
            <a:pPr marL="0" indent="0" algn="just">
              <a:buNone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Programming &amp; Frameworks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– AI models, backend logic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MERN Stack (MongoDB, Express, React, Node.js)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– Web application development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LangGraph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– Workflow orchestration for story-to-scene breakdown</a:t>
            </a:r>
          </a:p>
          <a:p>
            <a:pPr marL="0" indent="0" algn="just">
              <a:buNone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AI Models &amp; Libraries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Large Language Models (LLMs)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– Text understanding &amp; script structuring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Wav2Lip /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MuseTalk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– Lip-syncing for avatars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Stable Diffusion / GANs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– Image &amp; scene generation</a:t>
            </a:r>
          </a:p>
        </p:txBody>
      </p:sp>
      <p:sp>
        <p:nvSpPr>
          <p:cNvPr id="27652" name="Footer Placeholder 1">
            <a:extLst>
              <a:ext uri="{FF2B5EF4-FFF2-40B4-BE49-F238E27FC236}">
                <a16:creationId xmlns:a16="http://schemas.microsoft.com/office/drawing/2014/main" id="{4146CA6A-D6EA-4FB6-21AF-7442481F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FYP Proposal Presentation - BSSE (Fall 2025)</a:t>
            </a:r>
          </a:p>
        </p:txBody>
      </p:sp>
      <p:sp>
        <p:nvSpPr>
          <p:cNvPr id="27653" name="Slide Number Placeholder 2">
            <a:extLst>
              <a:ext uri="{FF2B5EF4-FFF2-40B4-BE49-F238E27FC236}">
                <a16:creationId xmlns:a16="http://schemas.microsoft.com/office/drawing/2014/main" id="{98FA765A-4906-BE5B-55A3-C262A4B93A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fld id="{C1225C61-978B-4843-8018-7DC45B515392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13</a:t>
            </a:fld>
            <a:endParaRPr lang="en-US" altLang="en-US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3EAD41C5-2738-59D7-6983-2E239CB4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And Techniques</a:t>
            </a:r>
            <a:endParaRPr lang="en-US" altLang="en-US" dirty="0"/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A3B38E99-A011-D5DD-94DE-F84DF1F7007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Real-ESRGAN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Video &amp; image super-resolution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Stable Diffusion / GANs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– Image &amp; scene generation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Real-ESRGAN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– Video &amp; image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super-resolution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Deployment &amp; Infrastructure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Cloud-based GPU servers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Model inference &amp; video rendering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APIs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Integration of AI modules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Web Interface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Multi-platform accessibility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6" name="Footer Placeholder 3">
            <a:extLst>
              <a:ext uri="{FF2B5EF4-FFF2-40B4-BE49-F238E27FC236}">
                <a16:creationId xmlns:a16="http://schemas.microsoft.com/office/drawing/2014/main" id="{B219E0F4-A6A1-4CAC-B396-64FFC08A2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FYP Proposal Presentation - BSSE (Fall 2025)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567903-1072-B93E-757E-BD891FCA6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fld id="{3E9899A8-B3A2-4AC0-A175-8BDCFBB6F16A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14</a:t>
            </a:fld>
            <a:endParaRPr lang="en-US" altLang="en-US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And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Development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Tools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VS Code /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PyCharm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Coding IDEs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Version control &amp; collaboration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Figma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Wireframing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tools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– UI/UX design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FYP Proposal Presentation - BSSE (Fall 2020)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983E40D-165C-4D7C-B114-AB3341593BB4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8695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D6F49BD4-55D3-0E38-B313-0F07A43C3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 Distribution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ACBC87-AA4B-2C39-0F76-64598D12289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9700" name="Footer Placeholder 1">
            <a:extLst>
              <a:ext uri="{FF2B5EF4-FFF2-40B4-BE49-F238E27FC236}">
                <a16:creationId xmlns:a16="http://schemas.microsoft.com/office/drawing/2014/main" id="{551BBE21-47EE-479F-55B7-563E5EAC9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FYP Proposal Presentation - BSSE (Fall 2025)</a:t>
            </a:r>
          </a:p>
        </p:txBody>
      </p:sp>
      <p:sp>
        <p:nvSpPr>
          <p:cNvPr id="29701" name="Slide Number Placeholder 2">
            <a:extLst>
              <a:ext uri="{FF2B5EF4-FFF2-40B4-BE49-F238E27FC236}">
                <a16:creationId xmlns:a16="http://schemas.microsoft.com/office/drawing/2014/main" id="{F1FCEC6E-939A-EB9A-E356-B4E99598EC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fld id="{618F9D2D-84DC-4B96-98D9-9B0717295B7B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16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801704"/>
              </p:ext>
            </p:extLst>
          </p:nvPr>
        </p:nvGraphicFramePr>
        <p:xfrm>
          <a:off x="380998" y="1600200"/>
          <a:ext cx="8385176" cy="4555545"/>
        </p:xfrm>
        <a:graphic>
          <a:graphicData uri="http://schemas.openxmlformats.org/drawingml/2006/table">
            <a:tbl>
              <a:tblPr/>
              <a:tblGrid>
                <a:gridCol w="1295402">
                  <a:extLst>
                    <a:ext uri="{9D8B030D-6E8A-4147-A177-3AD203B41FA5}">
                      <a16:colId xmlns:a16="http://schemas.microsoft.com/office/drawing/2014/main" val="3709443093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87698162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979144557"/>
                    </a:ext>
                  </a:extLst>
                </a:gridCol>
                <a:gridCol w="1298574">
                  <a:extLst>
                    <a:ext uri="{9D8B030D-6E8A-4147-A177-3AD203B41FA5}">
                      <a16:colId xmlns:a16="http://schemas.microsoft.com/office/drawing/2014/main" val="4024441191"/>
                    </a:ext>
                  </a:extLst>
                </a:gridCol>
              </a:tblGrid>
              <a:tr h="66651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Sr. No.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Member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Responsibilities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Timeline (Weeks)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8382970"/>
                  </a:ext>
                </a:extLst>
              </a:tr>
              <a:tr h="96361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Muhammad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Humam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Khan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R&amp;D of LLM Models, NLP Implementation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1–6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426757"/>
                  </a:ext>
                </a:extLst>
              </a:tr>
              <a:tr h="666519">
                <a:tc>
                  <a:txBody>
                    <a:bodyPr/>
                    <a:lstStyle/>
                    <a:p>
                      <a:pPr algn="ctr"/>
                      <a:r>
                        <a:rPr lang="en-US" sz="2000" b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0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Muhammad Abdullah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Frontend Development, UI Prototyping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3–6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9157475"/>
                  </a:ext>
                </a:extLst>
              </a:tr>
              <a:tr h="96361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Atta-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Rehman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Backend Development, API Integration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3–7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6483367"/>
                  </a:ext>
                </a:extLst>
              </a:tr>
              <a:tr h="1260717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Muhammad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Humam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Khan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LLM Model Fine-Tuning, Text-to-Animation Pipeline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4–8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184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2396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D6F49BD4-55D3-0E38-B313-0F07A43C3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 Distribution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ACBC87-AA4B-2C39-0F76-64598D12289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29700" name="Footer Placeholder 1">
            <a:extLst>
              <a:ext uri="{FF2B5EF4-FFF2-40B4-BE49-F238E27FC236}">
                <a16:creationId xmlns:a16="http://schemas.microsoft.com/office/drawing/2014/main" id="{551BBE21-47EE-479F-55B7-563E5EAC9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FYP Proposal Presentation - BSSE (Fall 2025)</a:t>
            </a:r>
          </a:p>
        </p:txBody>
      </p:sp>
      <p:sp>
        <p:nvSpPr>
          <p:cNvPr id="29701" name="Slide Number Placeholder 2">
            <a:extLst>
              <a:ext uri="{FF2B5EF4-FFF2-40B4-BE49-F238E27FC236}">
                <a16:creationId xmlns:a16="http://schemas.microsoft.com/office/drawing/2014/main" id="{F1FCEC6E-939A-EB9A-E356-B4E99598EC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fld id="{618F9D2D-84DC-4B96-98D9-9B0717295B7B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17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837598"/>
              </p:ext>
            </p:extLst>
          </p:nvPr>
        </p:nvGraphicFramePr>
        <p:xfrm>
          <a:off x="380998" y="1600200"/>
          <a:ext cx="8385176" cy="2908131"/>
        </p:xfrm>
        <a:graphic>
          <a:graphicData uri="http://schemas.openxmlformats.org/drawingml/2006/table">
            <a:tbl>
              <a:tblPr/>
              <a:tblGrid>
                <a:gridCol w="1295402">
                  <a:extLst>
                    <a:ext uri="{9D8B030D-6E8A-4147-A177-3AD203B41FA5}">
                      <a16:colId xmlns:a16="http://schemas.microsoft.com/office/drawing/2014/main" val="3709443093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187698162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979144557"/>
                    </a:ext>
                  </a:extLst>
                </a:gridCol>
                <a:gridCol w="1298574">
                  <a:extLst>
                    <a:ext uri="{9D8B030D-6E8A-4147-A177-3AD203B41FA5}">
                      <a16:colId xmlns:a16="http://schemas.microsoft.com/office/drawing/2014/main" val="4024441191"/>
                    </a:ext>
                  </a:extLst>
                </a:gridCol>
              </a:tblGrid>
              <a:tr h="666519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Sr. No.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Member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Responsibilities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Timeline (Weeks)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8382970"/>
                  </a:ext>
                </a:extLst>
              </a:tr>
              <a:tr h="96361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Muhammad Abdullah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QA Testing, Bug Fixing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7–10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9818398"/>
                  </a:ext>
                </a:extLst>
              </a:tr>
              <a:tr h="126071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Atta-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ur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Rehman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 Optimization, Deployment &amp; Documentation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8–12</a:t>
                      </a:r>
                    </a:p>
                  </a:txBody>
                  <a:tcPr marL="74196" marR="74196" marT="37098" marB="370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9256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006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BDBFE5FA-0C62-C5ED-E26F-8839551EB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 Plan (Gantt Chart)</a:t>
            </a:r>
          </a:p>
        </p:txBody>
      </p:sp>
      <p:pic>
        <p:nvPicPr>
          <p:cNvPr id="34819" name="Content Placeholder 2">
            <a:extLst>
              <a:ext uri="{FF2B5EF4-FFF2-40B4-BE49-F238E27FC236}">
                <a16:creationId xmlns:a16="http://schemas.microsoft.com/office/drawing/2014/main" id="{51F89240-7413-78F4-E46A-4D42785E7FF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685925"/>
            <a:ext cx="7315200" cy="4324350"/>
          </a:xfrm>
        </p:spPr>
      </p:pic>
      <p:sp>
        <p:nvSpPr>
          <p:cNvPr id="34820" name="Footer Placeholder 1">
            <a:extLst>
              <a:ext uri="{FF2B5EF4-FFF2-40B4-BE49-F238E27FC236}">
                <a16:creationId xmlns:a16="http://schemas.microsoft.com/office/drawing/2014/main" id="{8E7C329C-3E86-4C16-DFD8-59842C3A6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FYP Proposal Presentation - BSSE (Fall 2025)</a:t>
            </a:r>
          </a:p>
        </p:txBody>
      </p:sp>
      <p:sp>
        <p:nvSpPr>
          <p:cNvPr id="34821" name="Slide Number Placeholder 2">
            <a:extLst>
              <a:ext uri="{FF2B5EF4-FFF2-40B4-BE49-F238E27FC236}">
                <a16:creationId xmlns:a16="http://schemas.microsoft.com/office/drawing/2014/main" id="{7A8EFAA9-57A9-F1CC-9A30-53774C96E7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fld id="{C9A20FD8-ECDC-44BD-9B1E-C7603DA86D6F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18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51" y="995023"/>
            <a:ext cx="9116697" cy="486795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70D2ADB0-8886-D0CC-1927-354A3BF32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5843" name="Content Placeholder 1">
            <a:extLst>
              <a:ext uri="{FF2B5EF4-FFF2-40B4-BE49-F238E27FC236}">
                <a16:creationId xmlns:a16="http://schemas.microsoft.com/office/drawing/2014/main" id="{68D8B6B3-76B1-DC4B-E1F7-C17A12310EA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4" name="Footer Placeholder 1">
            <a:extLst>
              <a:ext uri="{FF2B5EF4-FFF2-40B4-BE49-F238E27FC236}">
                <a16:creationId xmlns:a16="http://schemas.microsoft.com/office/drawing/2014/main" id="{845B93FF-E762-B7C9-3339-068112995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solidFill>
                  <a:schemeClr val="tx2"/>
                </a:solidFill>
              </a:rPr>
              <a:t>FYP Proposal Presentation - BSSE (Fall 2025)</a:t>
            </a:r>
          </a:p>
        </p:txBody>
      </p:sp>
      <p:sp>
        <p:nvSpPr>
          <p:cNvPr id="35845" name="Slide Number Placeholder 2">
            <a:extLst>
              <a:ext uri="{FF2B5EF4-FFF2-40B4-BE49-F238E27FC236}">
                <a16:creationId xmlns:a16="http://schemas.microsoft.com/office/drawing/2014/main" id="{9445F47A-2189-AB21-5418-40A63DE92B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</a:pPr>
            <a:fld id="{4CA269D5-7104-49F4-B459-2240D6043A94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19</a:t>
            </a:fld>
            <a:endParaRPr lang="en-US" altLang="en-US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217BDD2C-9E5A-8DC5-47D6-A3D383031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1752600"/>
            <a:ext cx="5791200" cy="1622425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37891" name="Rectangle 25">
            <a:extLst>
              <a:ext uri="{FF2B5EF4-FFF2-40B4-BE49-F238E27FC236}">
                <a16:creationId xmlns:a16="http://schemas.microsoft.com/office/drawing/2014/main" id="{A13CE12F-A193-5735-26ED-BF9F6C61B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/>
          <a:lstStyle/>
          <a:p>
            <a:pPr algn="ctr" eaLnBrk="1" hangingPunct="1"/>
            <a:r>
              <a:rPr lang="en-US" altLang="en-US" sz="2000">
                <a:latin typeface="Calibri" panose="020F0502020204030204" pitchFamily="34" charset="0"/>
              </a:rPr>
              <a:t>Department of Computer Science, SZABIST Islamabad</a:t>
            </a:r>
          </a:p>
        </p:txBody>
      </p:sp>
      <p:sp>
        <p:nvSpPr>
          <p:cNvPr id="37892" name="TextBox 3">
            <a:extLst>
              <a:ext uri="{FF2B5EF4-FFF2-40B4-BE49-F238E27FC236}">
                <a16:creationId xmlns:a16="http://schemas.microsoft.com/office/drawing/2014/main" id="{C03B80F2-6B8C-F0A3-2E7F-2C330B56A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6208713"/>
            <a:ext cx="1966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bg1"/>
                </a:solidFill>
              </a:rPr>
              <a:t>BSSE (Fall 2025)</a:t>
            </a:r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Templat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041tgp_figure_blue 1">
        <a:dk1>
          <a:srgbClr val="000000"/>
        </a:dk1>
        <a:lt1>
          <a:srgbClr val="FFFFFF"/>
        </a:lt1>
        <a:dk2>
          <a:srgbClr val="000066"/>
        </a:dk2>
        <a:lt2>
          <a:srgbClr val="DDDDDD"/>
        </a:lt2>
        <a:accent1>
          <a:srgbClr val="E47F6E"/>
        </a:accent1>
        <a:accent2>
          <a:srgbClr val="0099CC"/>
        </a:accent2>
        <a:accent3>
          <a:srgbClr val="FFFFFF"/>
        </a:accent3>
        <a:accent4>
          <a:srgbClr val="000000"/>
        </a:accent4>
        <a:accent5>
          <a:srgbClr val="EFC0BA"/>
        </a:accent5>
        <a:accent6>
          <a:srgbClr val="008AB9"/>
        </a:accent6>
        <a:hlink>
          <a:srgbClr val="7648EA"/>
        </a:hlink>
        <a:folHlink>
          <a:srgbClr val="DFAE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1tgp_figure_blue 2">
        <a:dk1>
          <a:srgbClr val="333333"/>
        </a:dk1>
        <a:lt1>
          <a:srgbClr val="FFFFFF"/>
        </a:lt1>
        <a:dk2>
          <a:srgbClr val="003366"/>
        </a:dk2>
        <a:lt2>
          <a:srgbClr val="B2B2B2"/>
        </a:lt2>
        <a:accent1>
          <a:srgbClr val="4CA491"/>
        </a:accent1>
        <a:accent2>
          <a:srgbClr val="E2AF52"/>
        </a:accent2>
        <a:accent3>
          <a:srgbClr val="FFFFFF"/>
        </a:accent3>
        <a:accent4>
          <a:srgbClr val="2A2A2A"/>
        </a:accent4>
        <a:accent5>
          <a:srgbClr val="B2CFC7"/>
        </a:accent5>
        <a:accent6>
          <a:srgbClr val="CD9E49"/>
        </a:accent6>
        <a:hlink>
          <a:srgbClr val="576CD5"/>
        </a:hlink>
        <a:folHlink>
          <a:srgbClr val="D8725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1tgp_figure_blue 3">
        <a:dk1>
          <a:srgbClr val="0F1A81"/>
        </a:dk1>
        <a:lt1>
          <a:srgbClr val="FFFFFF"/>
        </a:lt1>
        <a:dk2>
          <a:srgbClr val="175B5B"/>
        </a:dk2>
        <a:lt2>
          <a:srgbClr val="DDDDDD"/>
        </a:lt2>
        <a:accent1>
          <a:srgbClr val="A4C226"/>
        </a:accent1>
        <a:accent2>
          <a:srgbClr val="6CA5D8"/>
        </a:accent2>
        <a:accent3>
          <a:srgbClr val="FFFFFF"/>
        </a:accent3>
        <a:accent4>
          <a:srgbClr val="0B146D"/>
        </a:accent4>
        <a:accent5>
          <a:srgbClr val="CFDDAC"/>
        </a:accent5>
        <a:accent6>
          <a:srgbClr val="6195C4"/>
        </a:accent6>
        <a:hlink>
          <a:srgbClr val="5D4BC7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667</TotalTime>
  <Words>1082</Words>
  <Application>Microsoft Office PowerPoint</Application>
  <PresentationFormat>On-screen Show (4:3)</PresentationFormat>
  <Paragraphs>203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Calibri</vt:lpstr>
      <vt:lpstr>Corbel</vt:lpstr>
      <vt:lpstr>Times New Roman</vt:lpstr>
      <vt:lpstr>Tw Cen MT</vt:lpstr>
      <vt:lpstr>Verdana</vt:lpstr>
      <vt:lpstr>Wingdings</vt:lpstr>
      <vt:lpstr>Wingdings 2</vt:lpstr>
      <vt:lpstr>Template</vt:lpstr>
      <vt:lpstr>Median</vt:lpstr>
      <vt:lpstr>PowerPoint Presentation</vt:lpstr>
      <vt:lpstr>Team Structure</vt:lpstr>
      <vt:lpstr>Project Description</vt:lpstr>
      <vt:lpstr>Application / Literature Review</vt:lpstr>
      <vt:lpstr>Application / Literature Review</vt:lpstr>
      <vt:lpstr>Problem Statement</vt:lpstr>
      <vt:lpstr>Scope and Objectives</vt:lpstr>
      <vt:lpstr>Scope and Objectives</vt:lpstr>
      <vt:lpstr>Targeted Market / Audience</vt:lpstr>
      <vt:lpstr>Development Methodology</vt:lpstr>
      <vt:lpstr>Development Methodology</vt:lpstr>
      <vt:lpstr>Development Methodology</vt:lpstr>
      <vt:lpstr>Tools And Techniques</vt:lpstr>
      <vt:lpstr>Tools And Techniques</vt:lpstr>
      <vt:lpstr>Tools And Techniques</vt:lpstr>
      <vt:lpstr>Work Distribution</vt:lpstr>
      <vt:lpstr>Work Distribution</vt:lpstr>
      <vt:lpstr>Work Plan (Gantt Chart)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PowerTemplate</dc:title>
  <dc:creator>Bakhtiar</dc:creator>
  <cp:lastModifiedBy>ATTA UR REHMAN</cp:lastModifiedBy>
  <cp:revision>62</cp:revision>
  <dcterms:created xsi:type="dcterms:W3CDTF">2011-11-21T08:19:27Z</dcterms:created>
  <dcterms:modified xsi:type="dcterms:W3CDTF">2025-09-10T23:06:27Z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TC030000593</vt:lpwstr>
  </property>
</Properties>
</file>